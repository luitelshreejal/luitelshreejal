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built an optimization model deciding who staffs which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structural point: coverage is a team property, defined via Q_js.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each constraint line by line using the symbol legend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u_js at optimum is the diagnostic — a priced hiring gap, not a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4937760"/>
            <a:ext cx="128016" cy="128016"/>
          </a:xfrm>
          <a:prstGeom prst="ellipse">
            <a:avLst/>
          </a:prstGeom>
          <a:solidFill>
            <a:srgbClr val="4C6EF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737360" y="5577840"/>
            <a:ext cx="128016" cy="128016"/>
          </a:xfrm>
          <a:prstGeom prst="ellipse">
            <a:avLst/>
          </a:prstGeom>
          <a:solidFill>
            <a:srgbClr val="4C6EF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77440" y="4572000"/>
            <a:ext cx="128016" cy="128016"/>
          </a:xfrm>
          <a:prstGeom prst="ellipse">
            <a:avLst/>
          </a:prstGeom>
          <a:solidFill>
            <a:srgbClr val="4C6EF5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4206240"/>
            <a:ext cx="128016" cy="128016"/>
          </a:xfrm>
          <a:prstGeom prst="ellipse">
            <a:avLst/>
          </a:prstGeom>
          <a:solidFill>
            <a:srgbClr val="4C6EF5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5760720"/>
            <a:ext cx="128016" cy="128016"/>
          </a:xfrm>
          <a:prstGeom prst="ellipse">
            <a:avLst/>
          </a:prstGeom>
          <a:solidFill>
            <a:srgbClr val="4C6EF5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0" y="1371600"/>
            <a:ext cx="128016" cy="128016"/>
          </a:xfrm>
          <a:prstGeom prst="ellipse">
            <a:avLst/>
          </a:prstGeom>
          <a:solidFill>
            <a:srgbClr val="4C6EF5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0" y="2011680"/>
            <a:ext cx="128016" cy="128016"/>
          </a:xfrm>
          <a:prstGeom prst="ellipse">
            <a:avLst/>
          </a:prstGeom>
          <a:solidFill>
            <a:srgbClr val="4C6EF5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966960" y="2377440"/>
            <a:ext cx="128016" cy="128016"/>
          </a:xfrm>
          <a:prstGeom prst="ellipse">
            <a:avLst/>
          </a:prstGeom>
          <a:solidFill>
            <a:srgbClr val="4C6EF5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89920" y="2926080"/>
            <a:ext cx="128016" cy="128016"/>
          </a:xfrm>
          <a:prstGeom prst="ellipse">
            <a:avLst/>
          </a:prstGeom>
          <a:solidFill>
            <a:srgbClr val="4C6EF5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47120" y="1005840"/>
            <a:ext cx="128016" cy="128016"/>
          </a:xfrm>
          <a:prstGeom prst="ellipse">
            <a:avLst/>
          </a:prstGeom>
          <a:solidFill>
            <a:srgbClr val="4C6EF5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 →  PROJECTS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8288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Optimizing People-to-Project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Mixed-integer linear program for project staffing.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74920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07008" y="5074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design walkthrough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have skills, capacity, and cost. Projects need skills, headcount, and budget. Decide who staffs what.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NP-HARD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4290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must be covered jointly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 team — that's </a:t>
            </a:r>
            <a:pPr indent="0" marL="0">
              <a:lnSpc>
                <a:spcPct val="130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covering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must be matched to projects one-to-many under capacity limits — that's </a:t>
            </a:r>
            <a:pPr indent="0" marL="0">
              <a:lnSpc>
                <a:spcPct val="130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assignment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both at once, so it inherits the hardness of each.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03720" y="1600200"/>
            <a:ext cx="46177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78040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A66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 (people)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1268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A66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 (projects)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755368">
            <a:off x="7784330" y="2573122"/>
            <a:ext cx="2810780" cy="20117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 rot="-148876">
            <a:off x="7816833" y="2938882"/>
            <a:ext cx="2745774" cy="20117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 rot="1278347">
            <a:off x="7717501" y="3533242"/>
            <a:ext cx="2944439" cy="20117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 rot="421858">
            <a:off x="7807728" y="3899002"/>
            <a:ext cx="2763985" cy="20117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 rot="-489410">
            <a:off x="7804102" y="4264762"/>
            <a:ext cx="2771235" cy="20117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 rot="970330">
            <a:off x="7761608" y="4859122"/>
            <a:ext cx="2856223" cy="20117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7" name="Shape 15"/>
          <p:cNvSpPr/>
          <p:nvPr/>
        </p:nvSpPr>
        <p:spPr>
          <a:xfrm rot="80200">
            <a:off x="7817747" y="5224882"/>
            <a:ext cx="2743947" cy="20117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8" name="Shape 16"/>
          <p:cNvSpPr/>
          <p:nvPr/>
        </p:nvSpPr>
        <p:spPr>
          <a:xfrm rot="1997494">
            <a:off x="7548831" y="3167482"/>
            <a:ext cx="3281779" cy="20117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148840"/>
            <a:ext cx="365760" cy="256032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880360"/>
            <a:ext cx="365760" cy="256032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611880"/>
            <a:ext cx="365760" cy="256032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4343400"/>
            <a:ext cx="365760" cy="256032"/>
          </a:xfrm>
          <a:prstGeom prst="rect">
            <a:avLst/>
          </a:prstGeom>
        </p:spPr>
      </p:pic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5074920"/>
            <a:ext cx="365760" cy="25603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10561320" y="2697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5" name="Shape 18"/>
          <p:cNvSpPr/>
          <p:nvPr/>
        </p:nvSpPr>
        <p:spPr>
          <a:xfrm>
            <a:off x="10561320" y="38862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6" name="Shape 19"/>
          <p:cNvSpPr/>
          <p:nvPr/>
        </p:nvSpPr>
        <p:spPr>
          <a:xfrm>
            <a:off x="10561320" y="5074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4472" y="2770632"/>
            <a:ext cx="237744" cy="237744"/>
          </a:xfrm>
          <a:prstGeom prst="rect">
            <a:avLst/>
          </a:prstGeom>
        </p:spPr>
      </p:pic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4472" y="3959352"/>
            <a:ext cx="237744" cy="237744"/>
          </a:xfrm>
          <a:prstGeom prst="rect">
            <a:avLst/>
          </a:prstGeom>
        </p:spPr>
      </p:pic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4472" y="5148072"/>
            <a:ext cx="237744" cy="23774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coverage is a team property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project's required skills must be met by the union of its team's skills, not by any single member. This is what makes the problem set-covering, not simple matching.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333756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pic>
        <p:nvPicPr>
          <p:cNvPr id="6" name="Image 0" descr="eqs/eq_qjs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493008"/>
            <a:ext cx="4276729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qualified for skill s on project j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09360" y="169164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2940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NEEDS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629400" y="22860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9400" y="22860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29400" y="27889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29400" y="2788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629400" y="329184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9400" y="3291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mgmt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2940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(union of skills)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340864"/>
            <a:ext cx="365760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509760" y="2286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i1</a:t>
            </a:r>
            <a:pPr indent="0" marL="0">
              <a:buNone/>
            </a:pPr>
            <a:r>
              <a:rPr lang="en-US" sz="125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Python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641080" y="2468880"/>
            <a:ext cx="402336" cy="0"/>
          </a:xfrm>
          <a:prstGeom prst="line">
            <a:avLst/>
          </a:prstGeom>
          <a:noFill/>
          <a:ln w="19050">
            <a:solidFill>
              <a:srgbClr val="4C6EF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843784"/>
            <a:ext cx="365760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509760" y="2788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</a:t>
            </a:r>
            <a:pPr indent="0" marL="0">
              <a:buNone/>
            </a:pPr>
            <a:r>
              <a:rPr lang="en-US" sz="125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Design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641080" y="2971800"/>
            <a:ext cx="402336" cy="0"/>
          </a:xfrm>
          <a:prstGeom prst="line">
            <a:avLst/>
          </a:prstGeom>
          <a:noFill/>
          <a:ln w="19050">
            <a:solidFill>
              <a:srgbClr val="4C6EF5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3346704"/>
            <a:ext cx="365760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509760" y="32918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</a:t>
            </a:r>
            <a:pPr indent="0" marL="0">
              <a:buNone/>
            </a:pPr>
            <a:r>
              <a:rPr lang="en-US" sz="125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Client mgmt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8641080" y="3474720"/>
            <a:ext cx="402336" cy="0"/>
          </a:xfrm>
          <a:prstGeom prst="line">
            <a:avLst/>
          </a:prstGeom>
          <a:noFill/>
          <a:ln w="19050">
            <a:solidFill>
              <a:srgbClr val="4C6EF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components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286000"/>
            <a:ext cx="640080" cy="640080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24505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063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variable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143000" y="3474720"/>
            <a:ext cx="2788920" cy="685800"/>
          </a:xfrm>
          <a:prstGeom prst="roundRect">
            <a:avLst>
              <a:gd name="adj" fmla="val 8000"/>
            </a:avLst>
          </a:prstGeom>
          <a:solidFill>
            <a:srgbClr val="141A44"/>
          </a:solidFill>
          <a:ln/>
        </p:spPr>
      </p:sp>
      <p:pic>
        <p:nvPicPr>
          <p:cNvPr id="9" name="Image 1" descr="eqs/eq_xij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845" y="3680460"/>
            <a:ext cx="113723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42976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i assigned to project j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636008" y="196596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956048" y="2286000"/>
            <a:ext cx="640080" cy="640080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45059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56048" y="3063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4956048" y="3474720"/>
            <a:ext cx="2788920" cy="685800"/>
          </a:xfrm>
          <a:prstGeom prst="roundRect">
            <a:avLst>
              <a:gd name="adj" fmla="val 8000"/>
            </a:avLst>
          </a:prstGeom>
          <a:solidFill>
            <a:srgbClr val="141A44"/>
          </a:solidFill>
          <a:ln/>
        </p:spPr>
      </p:sp>
      <p:sp>
        <p:nvSpPr>
          <p:cNvPr id="16" name="Text 11"/>
          <p:cNvSpPr/>
          <p:nvPr/>
        </p:nvSpPr>
        <p:spPr>
          <a:xfrm>
            <a:off x="5093208" y="34747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 · budget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 · concurrency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956048" y="42976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budget, size, concurrency — must hold for any feasible plan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8449056" y="196596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769096" y="2286000"/>
            <a:ext cx="640080" cy="640080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3688" y="245059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769096" y="3063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8769096" y="3474720"/>
            <a:ext cx="2788920" cy="685800"/>
          </a:xfrm>
          <a:prstGeom prst="roundRect">
            <a:avLst>
              <a:gd name="adj" fmla="val 8000"/>
            </a:avLst>
          </a:prstGeom>
          <a:solidFill>
            <a:srgbClr val="141A44"/>
          </a:solidFill>
          <a:ln/>
        </p:spPr>
      </p:sp>
      <p:pic>
        <p:nvPicPr>
          <p:cNvPr id="23" name="Image 4" descr="eqs/eq_obj_small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9522" y="3680460"/>
            <a:ext cx="2508069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769096" y="42976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maximized over feasible x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— VARIANT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assignment, hard coverage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6309360" cy="4480560"/>
          </a:xfrm>
          <a:prstGeom prst="roundRect">
            <a:avLst>
              <a:gd name="adj" fmla="val 2041"/>
            </a:avLst>
          </a:prstGeom>
          <a:solidFill>
            <a:srgbClr val="141A44"/>
          </a:solidFill>
          <a:ln/>
        </p:spPr>
      </p:sp>
      <p:pic>
        <p:nvPicPr>
          <p:cNvPr id="5" name="Image 0" descr="eqs/eq_full2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88848"/>
            <a:ext cx="5760720" cy="33032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600200"/>
            <a:ext cx="4023360" cy="44805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8952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Symbols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589520" y="2194560"/>
            <a:ext cx="14484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fᵢⱼ, pᵢⱼ, cᵢⱼ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18397" y="2194560"/>
            <a:ext cx="23335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fit, preference, cost of i on j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589520" y="2834640"/>
            <a:ext cx="14484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Qⱼₛ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18397" y="2834640"/>
            <a:ext cx="23335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qualified in skill s for j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89520" y="3474720"/>
            <a:ext cx="14484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nⱼₛ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18397" y="3474720"/>
            <a:ext cx="23335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headcount for skill 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589520" y="4114800"/>
            <a:ext cx="14484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N̲ⱼ, N̄ⱼ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18397" y="4114800"/>
            <a:ext cx="23335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max team size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589520" y="4754880"/>
            <a:ext cx="14484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n̄ᵢ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18397" y="4754880"/>
            <a:ext cx="23335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concurrent projects for i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89520" y="5394960"/>
            <a:ext cx="14484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Bⱼ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118397" y="5394960"/>
            <a:ext cx="23335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cap for project j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coverage &amp; project selection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often exceeds supply. Variant 3 lets the model choose which optional projects to staff, fully cover the mandatory ones, and degrade gracefully elsewhere.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DECISION VARIABLES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pic>
        <p:nvPicPr>
          <p:cNvPr id="7" name="Image 0" descr="eqs/eq_wj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218688"/>
            <a:ext cx="1329520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611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j is selected (staffed at all)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703320" y="310896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pic>
        <p:nvPicPr>
          <p:cNvPr id="10" name="Image 1" descr="eqs/eq_ujs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3218688"/>
            <a:ext cx="99105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86200" y="3611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shortfall in coverage of skill s on j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949440" y="1737360"/>
            <a:ext cx="4389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9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22376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MODEL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223760" y="223113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skill gap → infeasible, no plan at all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949440" y="3429000"/>
            <a:ext cx="4389120" cy="1417320"/>
          </a:xfrm>
          <a:prstGeom prst="roundRect">
            <a:avLst>
              <a:gd name="adj" fmla="val 6452"/>
            </a:avLst>
          </a:prstGeom>
          <a:solidFill>
            <a:srgbClr val="141A44"/>
          </a:solidFill>
          <a:ln/>
        </p:spPr>
      </p:sp>
      <p:sp>
        <p:nvSpPr>
          <p:cNvPr id="16" name="Text 12"/>
          <p:cNvSpPr/>
          <p:nvPr/>
        </p:nvSpPr>
        <p:spPr>
          <a:xfrm>
            <a:off x="722376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MODEL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223760" y="392277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staffs what it can, prices every gap it leaves</a:t>
            </a:r>
            <a:endParaRPr lang="en-US" sz="15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6052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41330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uⱼₛ &gt; 0 at optimum is a ranked list of skill gaps to hire for.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— VARIANT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coverage, built on Variant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6949440" cy="4480560"/>
          </a:xfrm>
          <a:prstGeom prst="roundRect">
            <a:avLst>
              <a:gd name="adj" fmla="val 2041"/>
            </a:avLst>
          </a:prstGeom>
          <a:solidFill>
            <a:srgbClr val="141A44"/>
          </a:solidFill>
          <a:ln/>
        </p:spPr>
      </p:sp>
      <p:pic>
        <p:nvPicPr>
          <p:cNvPr id="5" name="Image 0" descr="eqs/eq_v3b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403741"/>
            <a:ext cx="6400800" cy="287347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1600200"/>
            <a:ext cx="3337560" cy="4480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75320" y="17830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Symbols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75320" y="2194560"/>
            <a:ext cx="12015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vⱼ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543593" y="2194560"/>
            <a:ext cx="19357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value of project j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75320" y="2834640"/>
            <a:ext cx="12015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wⱼ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543593" y="2834640"/>
            <a:ext cx="19357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project j is selected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75320" y="3474720"/>
            <a:ext cx="12015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uⱼₛ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543593" y="3474720"/>
            <a:ext cx="19357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shortfall, skill s on j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275320" y="4114800"/>
            <a:ext cx="12015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φⱼₛ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543593" y="4114800"/>
            <a:ext cx="19357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weight per unit shortfall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275320" y="4754880"/>
            <a:ext cx="12015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Eⱼ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543593" y="4754880"/>
            <a:ext cx="19357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eligible for project j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275320" y="5394960"/>
            <a:ext cx="12015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Jᵐᵃⁿ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543593" y="5394960"/>
            <a:ext cx="19357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projects (w=1 fixed)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 modules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to the base model without changing its structure.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651760"/>
            <a:ext cx="594360" cy="594360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807208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3383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Compatibility</a:t>
            </a:r>
            <a:endParaRPr lang="en-US" sz="1800" dirty="0"/>
          </a:p>
        </p:txBody>
      </p:sp>
      <p:pic>
        <p:nvPicPr>
          <p:cNvPr id="9" name="Image 1" descr="eqs/eq_compat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840480"/>
            <a:ext cx="2788920" cy="2666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45720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people can't share a project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636008" y="233172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9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956048" y="2651760"/>
            <a:ext cx="594360" cy="594360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496" y="2807208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56048" y="3383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</a:t>
            </a:r>
            <a:endParaRPr lang="en-US" sz="1800" dirty="0"/>
          </a:p>
        </p:txBody>
      </p:sp>
      <p:pic>
        <p:nvPicPr>
          <p:cNvPr id="15" name="Image 3" descr="eqs/eq_budget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840480"/>
            <a:ext cx="1892938" cy="5486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56048" y="45720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cost stays under each project's cap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8449056" y="233172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9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769096" y="2651760"/>
            <a:ext cx="594360" cy="594360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2807208"/>
            <a:ext cx="283464" cy="28346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769096" y="3383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Diversity ratio</a:t>
            </a:r>
            <a:endParaRPr lang="en-US" sz="1800" dirty="0"/>
          </a:p>
        </p:txBody>
      </p:sp>
      <p:pic>
        <p:nvPicPr>
          <p:cNvPr id="21" name="Image 5" descr="eqs/eq_diversity-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9096" y="3840480"/>
            <a:ext cx="1775012" cy="54864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769096" y="45720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department dominates a team</a:t>
            </a:r>
            <a:endParaRPr lang="en-US" sz="1250" dirty="0"/>
          </a:p>
        </p:txBody>
      </p:sp>
      <p:sp>
        <p:nvSpPr>
          <p:cNvPr id="23" name="Text 15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141A44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4688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6517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3375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as union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384048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coverage is defined over the team, not per person — this is the structural core.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636008" y="210312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141A44"/>
          </a:solidFill>
          <a:ln/>
        </p:spPr>
      </p:sp>
      <p:sp>
        <p:nvSpPr>
          <p:cNvPr id="10" name="Shape 7"/>
          <p:cNvSpPr/>
          <p:nvPr/>
        </p:nvSpPr>
        <p:spPr>
          <a:xfrm>
            <a:off x="4956048" y="24688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26517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56048" y="33375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objective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56048" y="384048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α, β, γ tune fit vs. preference vs. cost without changing the model.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449056" y="210312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141A44"/>
          </a:solidFill>
          <a:ln/>
        </p:spPr>
      </p:sp>
      <p:sp>
        <p:nvSpPr>
          <p:cNvPr id="15" name="Shape 11"/>
          <p:cNvSpPr/>
          <p:nvPr/>
        </p:nvSpPr>
        <p:spPr>
          <a:xfrm>
            <a:off x="8769096" y="24688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976" y="26517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69096" y="33375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constraints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769096" y="384048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Compatibility, budget, fairness attach independently to the base formulation.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 — solvable to provable optimum with standard solvers.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People-to-Project Assignment</dc:title>
  <dc:subject>PptxGenJS Presentation</dc:subject>
  <dc:creator>Interview Candidate</dc:creator>
  <cp:lastModifiedBy>Interview Candidate</cp:lastModifiedBy>
  <cp:revision>1</cp:revision>
  <dcterms:created xsi:type="dcterms:W3CDTF">2026-07-03T17:13:38Z</dcterms:created>
  <dcterms:modified xsi:type="dcterms:W3CDTF">2026-07-03T17:13:38Z</dcterms:modified>
</cp:coreProperties>
</file>